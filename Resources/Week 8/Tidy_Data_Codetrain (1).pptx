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" y="1417320"/>
            <a:ext cx="109728" cy="25603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TOPIC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Data, Melt,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&amp; Reshaping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data the way machine learning expects 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Python  ·  Codetrain Africa  ·  Ghana AI Talent Accelerator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00-agenda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911096"/>
            <a:ext cx="329184" cy="329184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9110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8745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Tidy Data philosophy</a:t>
            </a:r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Why messy data breaks ML pipelines and how to fix 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" y="2322576"/>
            <a:ext cx="329184" cy="329184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3225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2860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vs long format</a:t>
            </a:r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Two ways to lay out the same data — and when each wins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" y="2734056"/>
            <a:ext cx="329184" cy="329184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734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6974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with melt &amp; pivot</a:t>
            </a:r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Turn wide into long, long into wide, fluently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2608" y="3145536"/>
            <a:ext cx="329184" cy="329184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145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108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duplicates</a:t>
            </a:r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Handling many-to-one collapses with aggregations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2608" y="3557016"/>
            <a:ext cx="329184" cy="329184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557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35204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normalization</a:t>
            </a:r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Splitting fat tables into clean related ones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92608" y="3968496"/>
            <a:ext cx="329184" cy="329184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39684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3931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AI engineering</a:t>
            </a:r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Where this fits in ML pipelines and SQL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By the end you'll reshape any dataset into ML-ready form in seconds.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C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229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Data: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ML engineer cleans data first — and what 'clean' actually means.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arrives messy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01-the-problem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17830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model is trained, the data must be cleaned and structured. This step often consumes 60–80% of a data scientist's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Messy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Sales numbers mixed in column headers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Multiple values stuffed into one cell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Missing values, inconsistent formats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Months as columns instead of values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46888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0FFF4"/>
          </a:solidFill>
          <a:ln w="19050">
            <a:solidFill>
              <a:srgbClr val="34CB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5420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Tidy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8803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column is one variable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row is one observation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cell holds a single value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Ready to plug into Pandas, sklearn, SQL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Dirty data → broken models. Clean data → reliable predictions.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rules of tidy data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01-tidy-rules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17830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Hadley Wickham. Memorize these three sentences — they define every clean dataset.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" y="233172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2514600"/>
            <a:ext cx="457200" cy="457200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variable forms a column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" y="3657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measuring it, it gets its own column. Age, country, sales — one column each.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72968" y="233172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2514600"/>
            <a:ext cx="457200" cy="457200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10128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observation forms a row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10128" y="3657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event, one student, one transaction. Never split an observation across rows.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99048" y="233172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2514600"/>
            <a:ext cx="457200" cy="457200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36208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gets its own cell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36208" y="3657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lists, no compound text, no '$2,000 / 3 units' in one cell. One fact per cell.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Variable → Column. Observation → Row. Value → Cell.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vs long format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02-shape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1783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— two layouts. Wide is human-friendly, long is machine-friendly.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2240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42032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60120"/>
                <a:gridCol w="96012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754880" y="2240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542032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4370832" y="3017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melt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370832" y="3337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pivot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ML libraries (sklearn, seaborn, statsmodels) almost always prefer LONG format.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C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229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Reshaping: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 &amp; pivot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functions you'll reach for every single day.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.melt() — wide to long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02-melt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17830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melt() unpivots a DataFrame. Columns that aren't IDs become two new columns: a variable and its value.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" y="2331720"/>
            <a:ext cx="8641080" cy="1600200"/>
          </a:xfrm>
          <a:prstGeom prst="roundRect">
            <a:avLst>
              <a:gd name="adj" fmla="val 2857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95728"/>
            <a:ext cx="8229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34C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long_df = pd.melt(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sales,
</a:t>
            </a:r>
            <a:pPr indent="0" marL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id_vars=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['Product'],          </a:t>
            </a:r>
            <a:pPr indent="0" marL="0">
              <a:buNone/>
            </a:pPr>
            <a:r>
              <a:rPr lang="en-US" sz="1200" i="1" dirty="0">
                <a:solidFill>
                  <a:srgbClr val="7A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columns to keep
</a:t>
            </a:r>
            <a:pPr indent="0" marL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var_name=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'Month',             </a:t>
            </a:r>
            <a:pPr indent="0" marL="0">
              <a:buNone/>
            </a:pPr>
            <a:r>
              <a:rPr lang="en-US" sz="1200" i="1" dirty="0">
                <a:solidFill>
                  <a:srgbClr val="7A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column for headers
</a:t>
            </a:r>
            <a:pPr indent="0" marL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value_name=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'Sales'             </a:t>
            </a:r>
            <a:pPr indent="0" marL="0">
              <a:buNone/>
            </a:pPr>
            <a:r>
              <a:rPr lang="en-US" sz="1200" i="1" dirty="0">
                <a:solidFill>
                  <a:srgbClr val="7A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column for values
</a:t>
            </a:r>
            <a:pPr indent="0" marL="0">
              <a:buNone/>
            </a:pPr>
            <a:r>
              <a:rPr lang="en-US" sz="1200" b="1" dirty="0">
                <a:solidFill>
                  <a:srgbClr val="34C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" y="4023360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id_vars</a:t>
            </a:r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Identifier columns to keep as-is — never melted.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6888" y="4169664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var_name</a:t>
            </a:r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Name of the new column that holds the former column headers.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" y="4315968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value_name</a:t>
            </a:r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Name of the new column that holds the actual values.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melt() as 'unpivoting' — fat tables become tall tables.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coding: melt a sales dataset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02-live-melt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17556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Input (wide)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6888" y="2029968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754880" y="17556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Output (long)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029968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246888" y="3749040"/>
            <a:ext cx="8641080" cy="594360"/>
          </a:xfrm>
          <a:prstGeom prst="roundRect">
            <a:avLst>
              <a:gd name="adj" fmla="val 7692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3794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pd.melt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(sales, </a:t>
            </a:r>
            <a:pPr indent="0" marL="0">
              <a:buNone/>
            </a:pPr>
            <a:r>
              <a:rPr lang="en-US" sz="13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id_vars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</a:t>
            </a:r>
            <a:pPr indent="0" marL="0">
              <a:buNone/>
            </a:pPr>
            <a:r>
              <a:rPr lang="en-US" sz="130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'Product'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indent="0" marL="0">
              <a:buNone/>
            </a:pPr>
            <a:r>
              <a:rPr lang="en-US" sz="13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var_name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'Month'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value_name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'Sales'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 columns × 2 rows became 3 columns × 6 rows — same data, ML-ready shape.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Practice — your turn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02-exercise-melt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" y="1783080"/>
            <a:ext cx="8641080" cy="502920"/>
          </a:xfrm>
          <a:prstGeom prst="roundRect">
            <a:avLst>
              <a:gd name="adj" fmla="val 10909"/>
            </a:avLst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83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 ·  Reshape student grades from wide → long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" y="2423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(wide):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6888" y="269748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Kweku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754880" y="2423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tasks: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26974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pd.melt() with id_vars=['Name']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variable column 'Subject'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value column 'Score'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result has 9 rows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Name, then Subject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⏱  10 minutes  ·  Pair up, then we'll review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.pivot() — long back to wide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02-pivot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17830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pivot() is the inverse of melt. You tell it which column becomes the row index, which becomes column headers, and which fills the cells.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" y="2468880"/>
            <a:ext cx="8641080" cy="1325880"/>
          </a:xfrm>
          <a:prstGeom prst="roundRect">
            <a:avLst>
              <a:gd name="adj" fmla="val 3448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60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wide_df = long_df.</a:t>
            </a:r>
            <a:pPr indent="0" marL="0">
              <a:buNone/>
            </a:pPr>
            <a:r>
              <a:rPr lang="en-US" sz="1300" b="1" dirty="0">
                <a:solidFill>
                  <a:srgbClr val="34C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3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index=</a:t>
            </a:r>
            <a:pPr indent="0" marL="0">
              <a:buNone/>
            </a:pPr>
            <a:r>
              <a:rPr lang="en-US" sz="130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'Product',     </a:t>
            </a:r>
            <a:pPr indent="0" marL="0">
              <a:buNone/>
            </a:pPr>
            <a:r>
              <a:rPr lang="en-US" sz="1300" i="1" dirty="0">
                <a:solidFill>
                  <a:srgbClr val="7A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becomes the row label
</a:t>
            </a:r>
            <a:pPr indent="0" marL="0">
              <a:buNone/>
            </a:pPr>
            <a:r>
              <a:rPr lang="en-US" sz="13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columns=</a:t>
            </a:r>
            <a:pPr indent="0" marL="0">
              <a:buNone/>
            </a:pPr>
            <a:r>
              <a:rPr lang="en-US" sz="130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'Month',     </a:t>
            </a:r>
            <a:pPr indent="0" marL="0">
              <a:buNone/>
            </a:pPr>
            <a:r>
              <a:rPr lang="en-US" sz="1300" i="1" dirty="0">
                <a:solidFill>
                  <a:srgbClr val="7A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becomes new column headers
</a:t>
            </a:r>
            <a:pPr indent="0" marL="0">
              <a:buNone/>
            </a:pPr>
            <a:r>
              <a:rPr lang="en-US" sz="13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values=</a:t>
            </a:r>
            <a:pPr indent="0" marL="0">
              <a:buNone/>
            </a:pPr>
            <a:r>
              <a:rPr lang="en-US" sz="130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'Sales'        </a:t>
            </a:r>
            <a:pPr indent="0" marL="0">
              <a:buNone/>
            </a:pPr>
            <a:r>
              <a:rPr lang="en-US" sz="1300" i="1" dirty="0">
                <a:solidFill>
                  <a:srgbClr val="7A8B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fills the cells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" y="3931920"/>
            <a:ext cx="8641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Rule: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(index, columns) pair must be unique. Two rows with the same Product+Month will crash pivot().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melt() flattens; pivot() restores. They're mirror operations.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pivot fails:  pivot_table()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02-pivot-table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17830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has duplicates. Two sales of Rice in January? pivot() raises ValueError. pivot_table() handles it by aggregating.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" y="242316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87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pivot() — fails on duplicates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2816352"/>
            <a:ext cx="3931920" cy="1417320"/>
          </a:xfrm>
          <a:prstGeom prst="roundRect">
            <a:avLst>
              <a:gd name="adj" fmla="val 2581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07792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'Product'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columns=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'Month'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'Sales'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)
</a:t>
            </a:r>
            <a:pPr indent="0" marL="0">
              <a:buNone/>
            </a:pPr>
            <a:r>
              <a:rPr lang="en-US" sz="1050" i="1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ValueError 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F0FFF4"/>
          </a:solidFill>
          <a:ln w="19050">
            <a:solidFill>
              <a:srgbClr val="34CB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487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pivot_table() — aggregates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16352"/>
            <a:ext cx="3931920" cy="1417320"/>
          </a:xfrm>
          <a:prstGeom prst="roundRect">
            <a:avLst>
              <a:gd name="adj" fmla="val 2581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907792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pivot_table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'Product'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columns=</a:t>
            </a:r>
            <a:pPr indent="0" marL="0">
              <a:buNone/>
            </a:pPr>
            <a:r>
              <a:rPr lang="en-US" sz="105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'Month'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'Sales'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aggfunc=</a:t>
            </a:r>
            <a:pPr indent="0" marL="0">
              <a:buNone/>
            </a:pPr>
            <a:r>
              <a:rPr lang="en-US" sz="1050" dirty="0">
                <a:solidFill>
                  <a:srgbClr val="F8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'sum'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works 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Common aggfuncs: 'sum', 'mean', 'count', 'max', 'min'. Default is 'mean'.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C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229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 pipelines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data smartly — and why ML engineers care.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— reduce repetition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03-normalize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17830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tables repeat the same facts in many rows. Normalization breaks them into smaller related tables. Less repetition, fewer bugs, easier updates.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" y="24688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one fat table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6888" y="2743200"/>
          <a:ext cx="4206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097280"/>
                <a:gridCol w="1554480"/>
                <a:gridCol w="7772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ama@mail.com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ama@mail.com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kojo@mail.com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663440" y="24688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two related tables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743200"/>
          <a:ext cx="4206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237744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ama@mail.com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Kojo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kojo@mail.com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520440"/>
          <a:ext cx="4206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8288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Update Ama's email once, not three times. This is how SQL databases think.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in AI engineering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04-real-world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01952"/>
            <a:ext cx="502920" cy="502920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182880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inputs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10312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TensorFlow, PyTorch — all expect long/tidy DataFrames. Wrong shape = error or silent bug.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502920" cy="502920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4688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&amp; Plotly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7432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plotting libraries are built for long format. One reshape unlocks every chart you need.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182112"/>
            <a:ext cx="502920" cy="502920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10896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data warehouses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38328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tables are the standard in Postgres, BigQuery, Snowflake. Your Pandas work mirrors production schemas.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822192"/>
            <a:ext cx="502920" cy="502920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22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" y="37490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0233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/ dbt jobs reshape data between systems all day. melt() + pivot() are the everyday verbs.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Tidy data is the bridge between raw files and trained models.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Classroom exercises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05-exercises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" y="1783080"/>
            <a:ext cx="8641080" cy="457200"/>
          </a:xfrm>
          <a:prstGeom prst="roundRect">
            <a:avLst>
              <a:gd name="adj" fmla="val 12000"/>
            </a:avLst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83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Open a fresh notebook and try all three.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457200" cy="457200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32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2377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tidy 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6334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any dataset on Kaggle. List two columns or rows that violate the 3 tidy rules. Suggest the fix.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457200" cy="457200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30358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 a quarterly sales sheet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2918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DataFrame with columns ['Region', 'Q1', 'Q2', 'Q3', 'Q4'], produce a long DataFrame with columns ['Region', 'Quarter', 'Sales'].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457200" cy="457200"/>
          </a:xfrm>
          <a:prstGeom prst="ellipse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36941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with duplicates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95020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long sales table with multiple sales per (product, month), build a pivot_table that shows the TOTAL sales per product per month.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⏱  25 minutes total  ·  Submit your notebook on the LMS.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" y="56692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six concepts in one table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06-summary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645920"/>
            <a:ext cx="91440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6888" y="1828800"/>
          <a:ext cx="8641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446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B6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Tidy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variable = column, each observation = row, each value = cell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→ Long  (pd.melt)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→ Wide  (df.pivot)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 with aggregation — survives duplicate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Reshaping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change of dataset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one big table into smaller related 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246888" y="4434840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Clean, properly structured data is the foundation of every successful AI system.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Tidy Data &amp; Reshaping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28032"/>
            <a:ext cx="6858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Thanks!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debug help, or pair-coding requests welcome.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close your laptop: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the 3 rules of tidy data
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melt a DataFrame
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know when to use pivot_table over pivot
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why ML needs tidy input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005840"/>
            <a:ext cx="3017520" cy="3520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CODETRAIN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52160" y="2468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5216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Python  ·  Week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Tidy Data, Melt, Pivot &amp; Normalization — Codetrain Africa</dc:title>
  <dc:subject>PptxGenJS Presentation</dc:subject>
  <dc:creator>Codetrain Africa · AI with Python</dc:creator>
  <cp:lastModifiedBy>Codetrain Africa · AI with Python</cp:lastModifiedBy>
  <cp:revision>1</cp:revision>
  <dcterms:created xsi:type="dcterms:W3CDTF">2026-05-11T16:09:12Z</dcterms:created>
  <dcterms:modified xsi:type="dcterms:W3CDTF">2026-05-11T16:09:12Z</dcterms:modified>
</cp:coreProperties>
</file>